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</a:defRPr>
            </a:pPr>
            <a:r>
              <a:t>Inventory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94A3B8"/>
                </a:solidFill>
              </a:defRPr>
            </a:pPr>
            <a:r>
              <a:t>Module 12 Final Database Project - C# WinForms + SQLite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057400"/>
            <a:ext cx="1019556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E2E8F0"/>
                </a:solidFill>
              </a:defRPr>
            </a:pPr>
            <a:r>
              <a:t>A working desktop system for product records, stock movement, and inventory reports.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</a:defRPr>
            </a:pPr>
            <a:r>
              <a:t>System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7899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 tIns="274320" bIns="274320"/>
          <a:lstStyle/>
          <a:p>
            <a:pPr algn="l">
              <a:spcAft>
                <a:spcPts val="1100"/>
              </a:spcAft>
              <a:defRPr sz="2200">
                <a:solidFill>
                  <a:srgbClr val="E2E8F0"/>
                </a:solidFill>
              </a:defRPr>
            </a:pPr>
            <a:r>
              <a:t>• Tracks products, categories, suppliers, customers, and stock transactions.</a:t>
            </a:r>
          </a:p>
          <a:p>
            <a:pPr algn="l">
              <a:spcAft>
                <a:spcPts val="1100"/>
              </a:spcAft>
              <a:defRPr sz="2200">
                <a:solidFill>
                  <a:srgbClr val="E2E8F0"/>
                </a:solidFill>
              </a:defRPr>
            </a:pPr>
            <a:r>
              <a:t>• Supports CRUD operations and real-time dashboard totals.</a:t>
            </a:r>
          </a:p>
          <a:p>
            <a:pPr algn="l">
              <a:spcAft>
                <a:spcPts val="1100"/>
              </a:spcAft>
              <a:defRPr sz="2200">
                <a:solidFill>
                  <a:srgbClr val="E2E8F0"/>
                </a:solidFill>
              </a:defRPr>
            </a:pPr>
            <a:r>
              <a:t>• Uses normalized relational tables with primary and foreign keys.</a:t>
            </a:r>
          </a:p>
          <a:p>
            <a:pPr algn="l">
              <a:spcAft>
                <a:spcPts val="1100"/>
              </a:spcAft>
              <a:defRPr sz="2200">
                <a:solidFill>
                  <a:srgbClr val="E2E8F0"/>
                </a:solidFill>
              </a:defRPr>
            </a:pPr>
            <a:r>
              <a:t>• Built with C# WinForms and SQLite database.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</a:defRPr>
            </a:pPr>
            <a:r>
              <a:t>Project Requirements Covered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333756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ER Diagram</a:t>
            </a:r>
          </a:p>
          <a:p>
            <a:pPr algn="ctr">
              <a:defRPr sz="2500" b="1">
                <a:solidFill>
                  <a:srgbClr val="38BDF8"/>
                </a:solidFill>
              </a:defRPr>
            </a:pPr>
            <a:r>
              <a:t>Included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325880"/>
            <a:ext cx="333756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Normalized Tables</a:t>
            </a:r>
          </a:p>
          <a:p>
            <a:pPr algn="ctr">
              <a:defRPr sz="2500" b="1">
                <a:solidFill>
                  <a:srgbClr val="38BDF8"/>
                </a:solidFill>
              </a:defRPr>
            </a:pPr>
            <a:r>
              <a:t>7 tables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75320" y="1325880"/>
            <a:ext cx="333756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SQL Scripts</a:t>
            </a:r>
          </a:p>
          <a:p>
            <a:pPr algn="ctr">
              <a:defRPr sz="2500" b="1">
                <a:solidFill>
                  <a:srgbClr val="38BDF8"/>
                </a:solidFill>
              </a:defRPr>
            </a:pPr>
            <a:r>
              <a:t>Schema +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291839"/>
            <a:ext cx="333756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Queries Report</a:t>
            </a:r>
          </a:p>
          <a:p>
            <a:pPr algn="ctr">
              <a:defRPr sz="2500" b="1">
                <a:solidFill>
                  <a:srgbClr val="38BDF8"/>
                </a:solidFill>
              </a:defRPr>
            </a:pPr>
            <a:r>
              <a:t>5 queries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3291839"/>
            <a:ext cx="333756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Presentation</a:t>
            </a:r>
          </a:p>
          <a:p>
            <a:pPr algn="ctr">
              <a:defRPr sz="2500" b="1">
                <a:solidFill>
                  <a:srgbClr val="38BDF8"/>
                </a:solidFill>
              </a:defRPr>
            </a:pPr>
            <a:r>
              <a:t>10 slides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3291839"/>
            <a:ext cx="333756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C# System</a:t>
            </a:r>
          </a:p>
          <a:p>
            <a:pPr algn="ctr">
              <a:defRPr sz="2500" b="1">
                <a:solidFill>
                  <a:srgbClr val="38BDF8"/>
                </a:solidFill>
              </a:defRPr>
            </a:pPr>
            <a:r>
              <a:t>WinForms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</a:defRPr>
            </a:pPr>
            <a:r>
              <a:t>ER Diagram</a:t>
            </a:r>
          </a:p>
        </p:txBody>
      </p:sp>
      <p:pic>
        <p:nvPicPr>
          <p:cNvPr id="3" name="Picture 2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11155680" cy="6972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</a:defRPr>
            </a:pPr>
            <a:r>
              <a:t>Normalized Tables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7899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 tIns="274320" bIns="274320"/>
          <a:lstStyle/>
          <a:p>
            <a:pPr algn="l">
              <a:spcAft>
                <a:spcPts val="1100"/>
              </a:spcAft>
              <a:defRPr sz="2100">
                <a:solidFill>
                  <a:srgbClr val="E2E8F0"/>
                </a:solidFill>
              </a:defRPr>
            </a:pPr>
            <a:r>
              <a:t>• Categories - stores product classifications.</a:t>
            </a:r>
          </a:p>
          <a:p>
            <a:pPr algn="l">
              <a:spcAft>
                <a:spcPts val="1100"/>
              </a:spcAft>
              <a:defRPr sz="2100">
                <a:solidFill>
                  <a:srgbClr val="E2E8F0"/>
                </a:solidFill>
              </a:defRPr>
            </a:pPr>
            <a:r>
              <a:t>• Suppliers - stores supplier contact information.</a:t>
            </a:r>
          </a:p>
          <a:p>
            <a:pPr algn="l">
              <a:spcAft>
                <a:spcPts val="1100"/>
              </a:spcAft>
              <a:defRPr sz="2100">
                <a:solidFill>
                  <a:srgbClr val="E2E8F0"/>
                </a:solidFill>
              </a:defRPr>
            </a:pPr>
            <a:r>
              <a:t>• Products - stores inventory items and stock levels.</a:t>
            </a:r>
          </a:p>
          <a:p>
            <a:pPr algn="l">
              <a:spcAft>
                <a:spcPts val="1100"/>
              </a:spcAft>
              <a:defRPr sz="2100">
                <a:solidFill>
                  <a:srgbClr val="E2E8F0"/>
                </a:solidFill>
              </a:defRPr>
            </a:pPr>
            <a:r>
              <a:t>• StockTransactions - records stock-in and stock-out.</a:t>
            </a:r>
          </a:p>
          <a:p>
            <a:pPr algn="l">
              <a:spcAft>
                <a:spcPts val="1100"/>
              </a:spcAft>
              <a:defRPr sz="2100">
                <a:solidFill>
                  <a:srgbClr val="E2E8F0"/>
                </a:solidFill>
              </a:defRPr>
            </a:pPr>
            <a:r>
              <a:t>• Customers, SalesOrders, and SalesOrderItems support sales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</a:defRPr>
            </a:pPr>
            <a:r>
              <a:t>SQL Scripts and Queries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7899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 tIns="274320" bIns="274320"/>
          <a:lstStyle/>
          <a:p>
            <a:pPr algn="l">
              <a:spcAft>
                <a:spcPts val="1100"/>
              </a:spcAft>
              <a:defRPr sz="2100">
                <a:solidFill>
                  <a:srgbClr val="E2E8F0"/>
                </a:solidFill>
              </a:defRPr>
            </a:pPr>
            <a:r>
              <a:t>• schema_sqlite.sql creates all tables and constraints.</a:t>
            </a:r>
          </a:p>
          <a:p>
            <a:pPr algn="l">
              <a:spcAft>
                <a:spcPts val="1100"/>
              </a:spcAft>
              <a:defRPr sz="2100">
                <a:solidFill>
                  <a:srgbClr val="E2E8F0"/>
                </a:solidFill>
              </a:defRPr>
            </a:pPr>
            <a:r>
              <a:t>• sample_data.sql provides starter records.</a:t>
            </a:r>
          </a:p>
          <a:p>
            <a:pPr algn="l">
              <a:spcAft>
                <a:spcPts val="1100"/>
              </a:spcAft>
              <a:defRPr sz="2100">
                <a:solidFill>
                  <a:srgbClr val="E2E8F0"/>
                </a:solidFill>
              </a:defRPr>
            </a:pPr>
            <a:r>
              <a:t>• query_report.sql includes product list, low stock, valuation, stock history, and category count queries.</a:t>
            </a:r>
          </a:p>
          <a:p>
            <a:pPr algn="l">
              <a:spcAft>
                <a:spcPts val="1100"/>
              </a:spcAft>
              <a:defRPr sz="2100">
                <a:solidFill>
                  <a:srgbClr val="E2E8F0"/>
                </a:solidFill>
              </a:defRPr>
            </a:pPr>
            <a:r>
              <a:t>• Foreign keys connect categories, suppliers, products, customers, and orders.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</a:defRPr>
            </a:pPr>
            <a:r>
              <a:t>C# Application UI</a:t>
            </a:r>
          </a:p>
        </p:txBody>
      </p:sp>
      <p:pic>
        <p:nvPicPr>
          <p:cNvPr id="3" name="Picture 2" descr="ui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11155680" cy="6972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</a:defRPr>
            </a:pPr>
            <a:r>
              <a:t>Main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7899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 tIns="274320" bIns="274320"/>
          <a:lstStyle/>
          <a:p>
            <a:pPr algn="l">
              <a:spcAft>
                <a:spcPts val="1100"/>
              </a:spcAft>
              <a:defRPr sz="2100">
                <a:solidFill>
                  <a:srgbClr val="E2E8F0"/>
                </a:solidFill>
              </a:defRPr>
            </a:pPr>
            <a:r>
              <a:t>• Add, edit, delete, and search products.</a:t>
            </a:r>
          </a:p>
          <a:p>
            <a:pPr algn="l">
              <a:spcAft>
                <a:spcPts val="1100"/>
              </a:spcAft>
              <a:defRPr sz="2100">
                <a:solidFill>
                  <a:srgbClr val="E2E8F0"/>
                </a:solidFill>
              </a:defRPr>
            </a:pPr>
            <a:r>
              <a:t>• Dashboard shows total products, low stock count, and inventory value.</a:t>
            </a:r>
          </a:p>
          <a:p>
            <a:pPr algn="l">
              <a:spcAft>
                <a:spcPts val="1100"/>
              </a:spcAft>
              <a:defRPr sz="2100">
                <a:solidFill>
                  <a:srgbClr val="E2E8F0"/>
                </a:solidFill>
              </a:defRPr>
            </a:pPr>
            <a:r>
              <a:t>• Stock-in and stock-out transactions update quantities.</a:t>
            </a:r>
          </a:p>
          <a:p>
            <a:pPr algn="l">
              <a:spcAft>
                <a:spcPts val="1100"/>
              </a:spcAft>
              <a:defRPr sz="2100">
                <a:solidFill>
                  <a:srgbClr val="E2E8F0"/>
                </a:solidFill>
              </a:defRPr>
            </a:pPr>
            <a:r>
              <a:t>• Validation prevents stock-out when quantity is insufficient.</a:t>
            </a:r>
          </a:p>
          <a:p>
            <a:pPr algn="l">
              <a:spcAft>
                <a:spcPts val="1100"/>
              </a:spcAft>
              <a:defRPr sz="2100">
                <a:solidFill>
                  <a:srgbClr val="E2E8F0"/>
                </a:solidFill>
              </a:defRPr>
            </a:pPr>
            <a:r>
              <a:t>• Transaction report shows movement history.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</a:defRPr>
            </a:pPr>
            <a:r>
              <a:t>Database Normalization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7899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 tIns="274320" bIns="274320"/>
          <a:lstStyle/>
          <a:p>
            <a:pPr algn="l">
              <a:spcAft>
                <a:spcPts val="1100"/>
              </a:spcAft>
              <a:defRPr sz="2200">
                <a:solidFill>
                  <a:srgbClr val="E2E8F0"/>
                </a:solidFill>
              </a:defRPr>
            </a:pPr>
            <a:r>
              <a:t>• 1NF: each field contains atomic values.</a:t>
            </a:r>
          </a:p>
          <a:p>
            <a:pPr algn="l">
              <a:spcAft>
                <a:spcPts val="1100"/>
              </a:spcAft>
              <a:defRPr sz="2200">
                <a:solidFill>
                  <a:srgbClr val="E2E8F0"/>
                </a:solidFill>
              </a:defRPr>
            </a:pPr>
            <a:r>
              <a:t>• 2NF: non-key fields depend on the whole primary key.</a:t>
            </a:r>
          </a:p>
          <a:p>
            <a:pPr algn="l">
              <a:spcAft>
                <a:spcPts val="1100"/>
              </a:spcAft>
              <a:defRPr sz="2200">
                <a:solidFill>
                  <a:srgbClr val="E2E8F0"/>
                </a:solidFill>
              </a:defRPr>
            </a:pPr>
            <a:r>
              <a:t>• 3NF: lookup details are separated into Categories and Suppliers.</a:t>
            </a:r>
          </a:p>
          <a:p>
            <a:pPr algn="l">
              <a:spcAft>
                <a:spcPts val="1100"/>
              </a:spcAft>
              <a:defRPr sz="2200">
                <a:solidFill>
                  <a:srgbClr val="E2E8F0"/>
                </a:solidFill>
              </a:defRPr>
            </a:pPr>
            <a:r>
              <a:t>• Sales order details are separated from order header records.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7899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411480" tIns="274320" bIns="274320"/>
          <a:lstStyle/>
          <a:p>
            <a:pPr algn="l">
              <a:spcAft>
                <a:spcPts val="1100"/>
              </a:spcAft>
              <a:defRPr sz="2200">
                <a:solidFill>
                  <a:srgbClr val="E2E8F0"/>
                </a:solidFill>
              </a:defRPr>
            </a:pPr>
            <a:r>
              <a:t>• The project meets all Module 12 requirements.</a:t>
            </a:r>
          </a:p>
          <a:p>
            <a:pPr algn="l">
              <a:spcAft>
                <a:spcPts val="1100"/>
              </a:spcAft>
              <a:defRPr sz="2200">
                <a:solidFill>
                  <a:srgbClr val="E2E8F0"/>
                </a:solidFill>
              </a:defRPr>
            </a:pPr>
            <a:r>
              <a:t>• The database is normalized and includes SQL scripts.</a:t>
            </a:r>
          </a:p>
          <a:p>
            <a:pPr algn="l">
              <a:spcAft>
                <a:spcPts val="1100"/>
              </a:spcAft>
              <a:defRPr sz="2200">
                <a:solidFill>
                  <a:srgbClr val="E2E8F0"/>
                </a:solidFill>
              </a:defRPr>
            </a:pPr>
            <a:r>
              <a:t>• The C# desktop app provides a clean and usable interface.</a:t>
            </a:r>
          </a:p>
          <a:p>
            <a:pPr algn="l">
              <a:spcAft>
                <a:spcPts val="1100"/>
              </a:spcAft>
              <a:defRPr sz="2200">
                <a:solidFill>
                  <a:srgbClr val="E2E8F0"/>
                </a:solidFill>
              </a:defRPr>
            </a:pPr>
            <a:r>
              <a:t>• Reports help users monitor stock and make purchasing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